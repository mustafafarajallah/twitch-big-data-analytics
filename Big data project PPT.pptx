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arlow Condensed Bold" charset="1" panose="00000806000000000000"/>
      <p:regular r:id="rId16"/>
    </p:embeddedFont>
    <p:embeddedFont>
      <p:font typeface="Garet" charset="1" panose="00000000000000000000"/>
      <p:regular r:id="rId17"/>
    </p:embeddedFont>
    <p:embeddedFont>
      <p:font typeface="AC Steelfish" charset="1" panose="00000000000000000000"/>
      <p:regular r:id="rId18"/>
    </p:embeddedFont>
    <p:embeddedFont>
      <p:font typeface="Rosario" charset="1" panose="02000503040000020003"/>
      <p:regular r:id="rId19"/>
    </p:embeddedFont>
    <p:embeddedFont>
      <p:font typeface="Rosario Bold" charset="1" panose="02000503060000020004"/>
      <p:regular r:id="rId20"/>
    </p:embeddedFont>
    <p:embeddedFont>
      <p:font typeface="Public Sans" charset="1" panose="00000000000000000000"/>
      <p:regular r:id="rId21"/>
    </p:embeddedFont>
    <p:embeddedFont>
      <p:font typeface="Bernoru" charset="1" panose="00000A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8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47963">
            <a:off x="3065783" y="3440755"/>
            <a:ext cx="1523045" cy="1387356"/>
          </a:xfrm>
          <a:custGeom>
            <a:avLst/>
            <a:gdLst/>
            <a:ahLst/>
            <a:cxnLst/>
            <a:rect r="r" b="b" t="t" l="l"/>
            <a:pathLst>
              <a:path h="1387356" w="1523045">
                <a:moveTo>
                  <a:pt x="0" y="0"/>
                </a:moveTo>
                <a:lnTo>
                  <a:pt x="1523046" y="0"/>
                </a:lnTo>
                <a:lnTo>
                  <a:pt x="1523046" y="1387356"/>
                </a:lnTo>
                <a:lnTo>
                  <a:pt x="0" y="1387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33009" y="-185773"/>
            <a:ext cx="6698923" cy="11210025"/>
            <a:chOff x="0" y="0"/>
            <a:chExt cx="1764325" cy="29524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64325" cy="2952435"/>
            </a:xfrm>
            <a:custGeom>
              <a:avLst/>
              <a:gdLst/>
              <a:ahLst/>
              <a:cxnLst/>
              <a:rect r="r" b="b" t="t" l="l"/>
              <a:pathLst>
                <a:path h="2952435" w="1764325">
                  <a:moveTo>
                    <a:pt x="0" y="0"/>
                  </a:moveTo>
                  <a:lnTo>
                    <a:pt x="1764325" y="0"/>
                  </a:lnTo>
                  <a:lnTo>
                    <a:pt x="1764325" y="2952435"/>
                  </a:lnTo>
                  <a:lnTo>
                    <a:pt x="0" y="2952435"/>
                  </a:lnTo>
                  <a:close/>
                </a:path>
              </a:pathLst>
            </a:custGeom>
            <a:solidFill>
              <a:srgbClr val="6036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64325" cy="3000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-3771900" y="-515805"/>
            <a:ext cx="7315200" cy="4003409"/>
          </a:xfrm>
          <a:custGeom>
            <a:avLst/>
            <a:gdLst/>
            <a:ahLst/>
            <a:cxnLst/>
            <a:rect r="r" b="b" t="t" l="l"/>
            <a:pathLst>
              <a:path h="4003409" w="7315200">
                <a:moveTo>
                  <a:pt x="0" y="0"/>
                </a:moveTo>
                <a:lnTo>
                  <a:pt x="7315200" y="0"/>
                </a:lnTo>
                <a:lnTo>
                  <a:pt x="7315200" y="4003410"/>
                </a:lnTo>
                <a:lnTo>
                  <a:pt x="0" y="4003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3771900" y="6663610"/>
            <a:ext cx="7315200" cy="4003409"/>
          </a:xfrm>
          <a:custGeom>
            <a:avLst/>
            <a:gdLst/>
            <a:ahLst/>
            <a:cxnLst/>
            <a:rect r="r" b="b" t="t" l="l"/>
            <a:pathLst>
              <a:path h="4003409" w="7315200">
                <a:moveTo>
                  <a:pt x="0" y="0"/>
                </a:moveTo>
                <a:lnTo>
                  <a:pt x="7315200" y="0"/>
                </a:lnTo>
                <a:lnTo>
                  <a:pt x="7315200" y="4003410"/>
                </a:lnTo>
                <a:lnTo>
                  <a:pt x="0" y="4003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5400000">
            <a:off x="-1237778" y="3117496"/>
            <a:ext cx="10724565" cy="3780438"/>
            <a:chOff x="0" y="0"/>
            <a:chExt cx="1276328" cy="4499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6328" cy="449909"/>
            </a:xfrm>
            <a:custGeom>
              <a:avLst/>
              <a:gdLst/>
              <a:ahLst/>
              <a:cxnLst/>
              <a:rect r="r" b="b" t="t" l="l"/>
              <a:pathLst>
                <a:path h="449909" w="1276328">
                  <a:moveTo>
                    <a:pt x="425673" y="19070"/>
                  </a:moveTo>
                  <a:cubicBezTo>
                    <a:pt x="490895" y="7556"/>
                    <a:pt x="565497" y="0"/>
                    <a:pt x="638508" y="0"/>
                  </a:cubicBezTo>
                  <a:cubicBezTo>
                    <a:pt x="711521" y="0"/>
                    <a:pt x="781778" y="6476"/>
                    <a:pt x="846522" y="17990"/>
                  </a:cubicBezTo>
                  <a:cubicBezTo>
                    <a:pt x="847902" y="18350"/>
                    <a:pt x="849278" y="18350"/>
                    <a:pt x="850655" y="18710"/>
                  </a:cubicBezTo>
                  <a:cubicBezTo>
                    <a:pt x="1093798" y="64765"/>
                    <a:pt x="1272884" y="186379"/>
                    <a:pt x="1276328" y="320441"/>
                  </a:cubicBezTo>
                  <a:lnTo>
                    <a:pt x="1276328" y="449909"/>
                  </a:lnTo>
                  <a:lnTo>
                    <a:pt x="0" y="449909"/>
                  </a:lnTo>
                  <a:lnTo>
                    <a:pt x="0" y="320537"/>
                  </a:lnTo>
                  <a:cubicBezTo>
                    <a:pt x="3444" y="185660"/>
                    <a:pt x="179774" y="64045"/>
                    <a:pt x="425673" y="1907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79375"/>
              <a:ext cx="1276328" cy="3705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297795">
            <a:off x="441149" y="1592213"/>
            <a:ext cx="7875126" cy="787512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068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686981" y="1458863"/>
            <a:ext cx="7806416" cy="7775922"/>
            <a:chOff x="0" y="0"/>
            <a:chExt cx="6502400" cy="6477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6"/>
              <a:stretch>
                <a:fillRect l="-16369" t="0" r="-16369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3197944" y="-4506512"/>
            <a:ext cx="8122713" cy="8303889"/>
          </a:xfrm>
          <a:custGeom>
            <a:avLst/>
            <a:gdLst/>
            <a:ahLst/>
            <a:cxnLst/>
            <a:rect r="r" b="b" t="t" l="l"/>
            <a:pathLst>
              <a:path h="8303889" w="8122713">
                <a:moveTo>
                  <a:pt x="0" y="0"/>
                </a:moveTo>
                <a:lnTo>
                  <a:pt x="8122712" y="0"/>
                </a:lnTo>
                <a:lnTo>
                  <a:pt x="8122712" y="8303889"/>
                </a:lnTo>
                <a:lnTo>
                  <a:pt x="0" y="83038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14914023" y="7816070"/>
            <a:ext cx="5752990" cy="3645957"/>
          </a:xfrm>
          <a:custGeom>
            <a:avLst/>
            <a:gdLst/>
            <a:ahLst/>
            <a:cxnLst/>
            <a:rect r="r" b="b" t="t" l="l"/>
            <a:pathLst>
              <a:path h="3645957" w="5752990">
                <a:moveTo>
                  <a:pt x="5752990" y="0"/>
                </a:moveTo>
                <a:lnTo>
                  <a:pt x="0" y="0"/>
                </a:lnTo>
                <a:lnTo>
                  <a:pt x="0" y="3645957"/>
                </a:lnTo>
                <a:lnTo>
                  <a:pt x="5752990" y="3645957"/>
                </a:lnTo>
                <a:lnTo>
                  <a:pt x="575299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144000" y="6796786"/>
            <a:ext cx="8115300" cy="844786"/>
          </a:xfrm>
          <a:custGeom>
            <a:avLst/>
            <a:gdLst/>
            <a:ahLst/>
            <a:cxnLst/>
            <a:rect r="r" b="b" t="t" l="l"/>
            <a:pathLst>
              <a:path h="844786" w="8115300">
                <a:moveTo>
                  <a:pt x="0" y="0"/>
                </a:moveTo>
                <a:lnTo>
                  <a:pt x="8115300" y="0"/>
                </a:lnTo>
                <a:lnTo>
                  <a:pt x="8115300" y="844787"/>
                </a:lnTo>
                <a:lnTo>
                  <a:pt x="0" y="8447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753820" y="3332254"/>
            <a:ext cx="8888248" cy="3369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7"/>
              </a:lnSpc>
            </a:pPr>
            <a:r>
              <a:rPr lang="en-US" b="true" sz="10478">
                <a:solidFill>
                  <a:srgbClr val="60369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TWITCH BIG DATA ANALYTICS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90375" y="8389706"/>
            <a:ext cx="3822549" cy="522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7"/>
              </a:lnSpc>
            </a:pPr>
            <a:r>
              <a:rPr lang="en-US" sz="154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Presented by:</a:t>
            </a:r>
          </a:p>
          <a:p>
            <a:pPr algn="ctr">
              <a:lnSpc>
                <a:spcPts val="2167"/>
              </a:lnSpc>
              <a:spcBef>
                <a:spcPct val="0"/>
              </a:spcBef>
            </a:pPr>
            <a:r>
              <a:rPr lang="en-US" sz="154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Mustafa FarajAllah - 202310819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33009" y="-185773"/>
            <a:ext cx="5596580" cy="11210025"/>
            <a:chOff x="0" y="0"/>
            <a:chExt cx="1473996" cy="29524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3996" cy="2952435"/>
            </a:xfrm>
            <a:custGeom>
              <a:avLst/>
              <a:gdLst/>
              <a:ahLst/>
              <a:cxnLst/>
              <a:rect r="r" b="b" t="t" l="l"/>
              <a:pathLst>
                <a:path h="2952435" w="1473996">
                  <a:moveTo>
                    <a:pt x="0" y="0"/>
                  </a:moveTo>
                  <a:lnTo>
                    <a:pt x="1473996" y="0"/>
                  </a:lnTo>
                  <a:lnTo>
                    <a:pt x="1473996" y="2952435"/>
                  </a:lnTo>
                  <a:lnTo>
                    <a:pt x="0" y="2952435"/>
                  </a:lnTo>
                  <a:close/>
                </a:path>
              </a:pathLst>
            </a:custGeom>
            <a:solidFill>
              <a:srgbClr val="60369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73996" cy="3000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2191102" y="3286290"/>
            <a:ext cx="10724565" cy="3780438"/>
            <a:chOff x="0" y="0"/>
            <a:chExt cx="1276328" cy="4499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6328" cy="449909"/>
            </a:xfrm>
            <a:custGeom>
              <a:avLst/>
              <a:gdLst/>
              <a:ahLst/>
              <a:cxnLst/>
              <a:rect r="r" b="b" t="t" l="l"/>
              <a:pathLst>
                <a:path h="449909" w="1276328">
                  <a:moveTo>
                    <a:pt x="425673" y="19070"/>
                  </a:moveTo>
                  <a:cubicBezTo>
                    <a:pt x="490895" y="7556"/>
                    <a:pt x="565497" y="0"/>
                    <a:pt x="638508" y="0"/>
                  </a:cubicBezTo>
                  <a:cubicBezTo>
                    <a:pt x="711521" y="0"/>
                    <a:pt x="781778" y="6476"/>
                    <a:pt x="846522" y="17990"/>
                  </a:cubicBezTo>
                  <a:cubicBezTo>
                    <a:pt x="847902" y="18350"/>
                    <a:pt x="849278" y="18350"/>
                    <a:pt x="850655" y="18710"/>
                  </a:cubicBezTo>
                  <a:cubicBezTo>
                    <a:pt x="1093798" y="64765"/>
                    <a:pt x="1272884" y="186379"/>
                    <a:pt x="1276328" y="320441"/>
                  </a:cubicBezTo>
                  <a:lnTo>
                    <a:pt x="1276328" y="449909"/>
                  </a:lnTo>
                  <a:lnTo>
                    <a:pt x="0" y="449909"/>
                  </a:lnTo>
                  <a:lnTo>
                    <a:pt x="0" y="320537"/>
                  </a:lnTo>
                  <a:cubicBezTo>
                    <a:pt x="3444" y="185660"/>
                    <a:pt x="179774" y="64045"/>
                    <a:pt x="425673" y="1907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79375"/>
              <a:ext cx="1276328" cy="3705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989081" y="3011518"/>
            <a:ext cx="5513189" cy="0"/>
          </a:xfrm>
          <a:prstGeom prst="line">
            <a:avLst/>
          </a:prstGeom>
          <a:ln cap="rnd" w="76200">
            <a:solidFill>
              <a:srgbClr val="60369F"/>
            </a:solidFill>
            <a:prstDash val="lgDash"/>
            <a:headEnd type="diamond" len="lg" w="lg"/>
            <a:tailEnd type="diamond" len="lg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2074736" y="1385911"/>
            <a:ext cx="11947548" cy="1625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99"/>
              </a:lnSpc>
              <a:spcBef>
                <a:spcPct val="0"/>
              </a:spcBef>
            </a:pPr>
            <a:r>
              <a:rPr lang="en-US" sz="9499">
                <a:solidFill>
                  <a:srgbClr val="60369F"/>
                </a:solidFill>
                <a:latin typeface="AC Steelfish"/>
                <a:ea typeface="AC Steelfish"/>
                <a:cs typeface="AC Steelfish"/>
                <a:sym typeface="AC Steelfish"/>
              </a:rPr>
              <a:t>WHAT IS TWITCH?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74736" y="3407858"/>
            <a:ext cx="6059429" cy="539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99"/>
              </a:lnSpc>
            </a:pPr>
            <a:r>
              <a:rPr lang="en-US" sz="3999">
                <a:solidFill>
                  <a:srgbClr val="3B3730"/>
                </a:solidFill>
                <a:latin typeface="Rosario"/>
                <a:ea typeface="Rosario"/>
                <a:cs typeface="Rosario"/>
                <a:sym typeface="Rosario"/>
              </a:rPr>
              <a:t>Twitch is the </a:t>
            </a:r>
            <a:r>
              <a:rPr lang="en-US" b="true" sz="3999">
                <a:solidFill>
                  <a:srgbClr val="3B3730"/>
                </a:solidFill>
                <a:latin typeface="Rosario Bold"/>
                <a:ea typeface="Rosario Bold"/>
                <a:cs typeface="Rosario Bold"/>
                <a:sym typeface="Rosario Bold"/>
              </a:rPr>
              <a:t>leading video streaming platform</a:t>
            </a:r>
            <a:r>
              <a:rPr lang="en-US" sz="3999">
                <a:solidFill>
                  <a:srgbClr val="3B3730"/>
                </a:solidFill>
                <a:latin typeface="Rosario"/>
                <a:ea typeface="Rosario"/>
                <a:cs typeface="Rosario"/>
                <a:sym typeface="Rosario"/>
              </a:rPr>
              <a:t>, where users can watch live gameplay and interact with streamers. It allows content creators to broadcast </a:t>
            </a:r>
            <a:r>
              <a:rPr lang="en-US" sz="3999" u="sng">
                <a:solidFill>
                  <a:srgbClr val="3B3730"/>
                </a:solidFill>
                <a:latin typeface="Rosario"/>
                <a:ea typeface="Rosario"/>
                <a:cs typeface="Rosario"/>
                <a:sym typeface="Rosario"/>
              </a:rPr>
              <a:t>games</a:t>
            </a:r>
            <a:r>
              <a:rPr lang="en-US" sz="3999">
                <a:solidFill>
                  <a:srgbClr val="3B3730"/>
                </a:solidFill>
                <a:latin typeface="Rosario"/>
                <a:ea typeface="Rosario"/>
                <a:cs typeface="Rosario"/>
                <a:sym typeface="Rosario"/>
              </a:rPr>
              <a:t>, </a:t>
            </a:r>
            <a:r>
              <a:rPr lang="en-US" sz="3999" u="sng">
                <a:solidFill>
                  <a:srgbClr val="3B3730"/>
                </a:solidFill>
                <a:latin typeface="Rosario"/>
                <a:ea typeface="Rosario"/>
                <a:cs typeface="Rosario"/>
                <a:sym typeface="Rosario"/>
              </a:rPr>
              <a:t>esports events</a:t>
            </a:r>
            <a:r>
              <a:rPr lang="en-US" sz="3999">
                <a:solidFill>
                  <a:srgbClr val="3B3730"/>
                </a:solidFill>
                <a:latin typeface="Rosario"/>
                <a:ea typeface="Rosario"/>
                <a:cs typeface="Rosario"/>
                <a:sym typeface="Rosario"/>
              </a:rPr>
              <a:t>, and </a:t>
            </a:r>
            <a:r>
              <a:rPr lang="en-US" sz="3999" u="sng">
                <a:solidFill>
                  <a:srgbClr val="3B3730"/>
                </a:solidFill>
                <a:latin typeface="Rosario"/>
                <a:ea typeface="Rosario"/>
                <a:cs typeface="Rosario"/>
                <a:sym typeface="Rosario"/>
              </a:rPr>
              <a:t>other</a:t>
            </a:r>
            <a:r>
              <a:rPr lang="en-US" sz="3999">
                <a:solidFill>
                  <a:srgbClr val="3B3730"/>
                </a:solidFill>
                <a:latin typeface="Rosario"/>
                <a:ea typeface="Rosario"/>
                <a:cs typeface="Rosario"/>
                <a:sym typeface="Rosario"/>
              </a:rPr>
              <a:t> live content to a global audience.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5400000">
            <a:off x="-4630605" y="-515805"/>
            <a:ext cx="7315200" cy="4003409"/>
          </a:xfrm>
          <a:custGeom>
            <a:avLst/>
            <a:gdLst/>
            <a:ahLst/>
            <a:cxnLst/>
            <a:rect r="r" b="b" t="t" l="l"/>
            <a:pathLst>
              <a:path h="4003409" w="7315200">
                <a:moveTo>
                  <a:pt x="0" y="0"/>
                </a:moveTo>
                <a:lnTo>
                  <a:pt x="7315200" y="0"/>
                </a:lnTo>
                <a:lnTo>
                  <a:pt x="7315200" y="4003410"/>
                </a:lnTo>
                <a:lnTo>
                  <a:pt x="0" y="40034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-4630605" y="6630173"/>
            <a:ext cx="7315200" cy="4003409"/>
          </a:xfrm>
          <a:custGeom>
            <a:avLst/>
            <a:gdLst/>
            <a:ahLst/>
            <a:cxnLst/>
            <a:rect r="r" b="b" t="t" l="l"/>
            <a:pathLst>
              <a:path h="4003409" w="7315200">
                <a:moveTo>
                  <a:pt x="0" y="0"/>
                </a:moveTo>
                <a:lnTo>
                  <a:pt x="7315200" y="0"/>
                </a:lnTo>
                <a:lnTo>
                  <a:pt x="7315200" y="4003410"/>
                </a:lnTo>
                <a:lnTo>
                  <a:pt x="0" y="40034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460777" y="2043822"/>
            <a:ext cx="6497418" cy="7214478"/>
          </a:xfrm>
          <a:custGeom>
            <a:avLst/>
            <a:gdLst/>
            <a:ahLst/>
            <a:cxnLst/>
            <a:rect r="r" b="b" t="t" l="l"/>
            <a:pathLst>
              <a:path h="7214478" w="6497418">
                <a:moveTo>
                  <a:pt x="0" y="0"/>
                </a:moveTo>
                <a:lnTo>
                  <a:pt x="6497418" y="0"/>
                </a:lnTo>
                <a:lnTo>
                  <a:pt x="6497418" y="7214478"/>
                </a:lnTo>
                <a:lnTo>
                  <a:pt x="0" y="72144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7397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33009" y="-185773"/>
            <a:ext cx="5596580" cy="11210025"/>
            <a:chOff x="0" y="0"/>
            <a:chExt cx="1473996" cy="29524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3996" cy="2952435"/>
            </a:xfrm>
            <a:custGeom>
              <a:avLst/>
              <a:gdLst/>
              <a:ahLst/>
              <a:cxnLst/>
              <a:rect r="r" b="b" t="t" l="l"/>
              <a:pathLst>
                <a:path h="2952435" w="1473996">
                  <a:moveTo>
                    <a:pt x="0" y="0"/>
                  </a:moveTo>
                  <a:lnTo>
                    <a:pt x="1473996" y="0"/>
                  </a:lnTo>
                  <a:lnTo>
                    <a:pt x="1473996" y="2952435"/>
                  </a:lnTo>
                  <a:lnTo>
                    <a:pt x="0" y="2952435"/>
                  </a:lnTo>
                  <a:close/>
                </a:path>
              </a:pathLst>
            </a:custGeom>
            <a:solidFill>
              <a:srgbClr val="60369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73996" cy="3000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2191102" y="3286290"/>
            <a:ext cx="10724565" cy="3780438"/>
            <a:chOff x="0" y="0"/>
            <a:chExt cx="1276328" cy="4499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6328" cy="449909"/>
            </a:xfrm>
            <a:custGeom>
              <a:avLst/>
              <a:gdLst/>
              <a:ahLst/>
              <a:cxnLst/>
              <a:rect r="r" b="b" t="t" l="l"/>
              <a:pathLst>
                <a:path h="449909" w="1276328">
                  <a:moveTo>
                    <a:pt x="425673" y="19070"/>
                  </a:moveTo>
                  <a:cubicBezTo>
                    <a:pt x="490895" y="7556"/>
                    <a:pt x="565497" y="0"/>
                    <a:pt x="638508" y="0"/>
                  </a:cubicBezTo>
                  <a:cubicBezTo>
                    <a:pt x="711521" y="0"/>
                    <a:pt x="781778" y="6476"/>
                    <a:pt x="846522" y="17990"/>
                  </a:cubicBezTo>
                  <a:cubicBezTo>
                    <a:pt x="847902" y="18350"/>
                    <a:pt x="849278" y="18350"/>
                    <a:pt x="850655" y="18710"/>
                  </a:cubicBezTo>
                  <a:cubicBezTo>
                    <a:pt x="1093798" y="64765"/>
                    <a:pt x="1272884" y="186379"/>
                    <a:pt x="1276328" y="320441"/>
                  </a:cubicBezTo>
                  <a:lnTo>
                    <a:pt x="1276328" y="449909"/>
                  </a:lnTo>
                  <a:lnTo>
                    <a:pt x="0" y="449909"/>
                  </a:lnTo>
                  <a:lnTo>
                    <a:pt x="0" y="320537"/>
                  </a:lnTo>
                  <a:cubicBezTo>
                    <a:pt x="3444" y="185660"/>
                    <a:pt x="179774" y="64045"/>
                    <a:pt x="425673" y="1907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79375"/>
              <a:ext cx="1276328" cy="3705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989081" y="3011518"/>
            <a:ext cx="3654386" cy="64093"/>
          </a:xfrm>
          <a:prstGeom prst="line">
            <a:avLst/>
          </a:prstGeom>
          <a:ln cap="rnd" w="76200">
            <a:solidFill>
              <a:srgbClr val="60369F"/>
            </a:solidFill>
            <a:prstDash val="lgDash"/>
            <a:headEnd type="diamond" len="lg" w="lg"/>
            <a:tailEnd type="diamond" len="lg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2074736" y="1385911"/>
            <a:ext cx="11947548" cy="1625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99"/>
              </a:lnSpc>
              <a:spcBef>
                <a:spcPct val="0"/>
              </a:spcBef>
            </a:pPr>
            <a:r>
              <a:rPr lang="en-US" sz="9499">
                <a:solidFill>
                  <a:srgbClr val="60369F"/>
                </a:solidFill>
                <a:latin typeface="AC Steelfish"/>
                <a:ea typeface="AC Steelfish"/>
                <a:cs typeface="AC Steelfish"/>
                <a:sym typeface="AC Steelfish"/>
              </a:rPr>
              <a:t>TWITCH API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573634" y="1028700"/>
            <a:ext cx="1685666" cy="1685666"/>
          </a:xfrm>
          <a:custGeom>
            <a:avLst/>
            <a:gdLst/>
            <a:ahLst/>
            <a:cxnLst/>
            <a:rect r="r" b="b" t="t" l="l"/>
            <a:pathLst>
              <a:path h="1685666" w="1685666">
                <a:moveTo>
                  <a:pt x="0" y="0"/>
                </a:moveTo>
                <a:lnTo>
                  <a:pt x="1685666" y="0"/>
                </a:lnTo>
                <a:lnTo>
                  <a:pt x="1685666" y="1685666"/>
                </a:lnTo>
                <a:lnTo>
                  <a:pt x="0" y="168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8249519">
            <a:off x="15932669" y="-2258604"/>
            <a:ext cx="5550010" cy="4965798"/>
          </a:xfrm>
          <a:custGeom>
            <a:avLst/>
            <a:gdLst/>
            <a:ahLst/>
            <a:cxnLst/>
            <a:rect r="r" b="b" t="t" l="l"/>
            <a:pathLst>
              <a:path h="4965798" w="5550010">
                <a:moveTo>
                  <a:pt x="0" y="0"/>
                </a:moveTo>
                <a:lnTo>
                  <a:pt x="5550010" y="0"/>
                </a:lnTo>
                <a:lnTo>
                  <a:pt x="5550010" y="4965798"/>
                </a:lnTo>
                <a:lnTo>
                  <a:pt x="0" y="49657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-4630605" y="-515805"/>
            <a:ext cx="7315200" cy="4003409"/>
          </a:xfrm>
          <a:custGeom>
            <a:avLst/>
            <a:gdLst/>
            <a:ahLst/>
            <a:cxnLst/>
            <a:rect r="r" b="b" t="t" l="l"/>
            <a:pathLst>
              <a:path h="4003409" w="7315200">
                <a:moveTo>
                  <a:pt x="0" y="0"/>
                </a:moveTo>
                <a:lnTo>
                  <a:pt x="7315200" y="0"/>
                </a:lnTo>
                <a:lnTo>
                  <a:pt x="7315200" y="4003410"/>
                </a:lnTo>
                <a:lnTo>
                  <a:pt x="0" y="4003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5400000">
            <a:off x="-4630605" y="6630173"/>
            <a:ext cx="7315200" cy="4003409"/>
          </a:xfrm>
          <a:custGeom>
            <a:avLst/>
            <a:gdLst/>
            <a:ahLst/>
            <a:cxnLst/>
            <a:rect r="r" b="b" t="t" l="l"/>
            <a:pathLst>
              <a:path h="4003409" w="7315200">
                <a:moveTo>
                  <a:pt x="0" y="0"/>
                </a:moveTo>
                <a:lnTo>
                  <a:pt x="7315200" y="0"/>
                </a:lnTo>
                <a:lnTo>
                  <a:pt x="7315200" y="4003410"/>
                </a:lnTo>
                <a:lnTo>
                  <a:pt x="0" y="4003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989081" y="3926478"/>
            <a:ext cx="7097287" cy="2434044"/>
            <a:chOff x="0" y="0"/>
            <a:chExt cx="2213460" cy="7591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3460" cy="759115"/>
            </a:xfrm>
            <a:custGeom>
              <a:avLst/>
              <a:gdLst/>
              <a:ahLst/>
              <a:cxnLst/>
              <a:rect r="r" b="b" t="t" l="l"/>
              <a:pathLst>
                <a:path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9913D1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13460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211731" y="4605338"/>
            <a:ext cx="1831939" cy="129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9"/>
              </a:lnSpc>
              <a:spcBef>
                <a:spcPct val="0"/>
              </a:spcBef>
            </a:pPr>
            <a:r>
              <a:rPr lang="en-US" sz="9999" spc="-95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563843" y="4034473"/>
            <a:ext cx="5312969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b="true" sz="3500">
                <a:solidFill>
                  <a:srgbClr val="FFFFFF"/>
                </a:solidFill>
                <a:latin typeface="Rosario Bold"/>
                <a:ea typeface="Rosario Bold"/>
                <a:cs typeface="Rosario Bold"/>
                <a:sym typeface="Rosario Bold"/>
              </a:rPr>
              <a:t>Who can access the API?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63843" y="4955228"/>
            <a:ext cx="4965777" cy="73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0"/>
              </a:lnSpc>
            </a:pPr>
            <a:r>
              <a:rPr lang="en-US" b="true" sz="2300">
                <a:solidFill>
                  <a:srgbClr val="FBF6F1"/>
                </a:solidFill>
                <a:latin typeface="Rosario Bold"/>
                <a:ea typeface="Rosario Bold"/>
                <a:cs typeface="Rosario Bold"/>
                <a:sym typeface="Rosario Bold"/>
              </a:rPr>
              <a:t>Only authorized users who have 2FA enabled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046731" y="6703422"/>
            <a:ext cx="7097287" cy="3010852"/>
            <a:chOff x="0" y="0"/>
            <a:chExt cx="2213483" cy="9390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13483" cy="939038"/>
            </a:xfrm>
            <a:custGeom>
              <a:avLst/>
              <a:gdLst/>
              <a:ahLst/>
              <a:cxnLst/>
              <a:rect r="r" b="b" t="t" l="l"/>
              <a:pathLst>
                <a:path h="939038" w="2213483">
                  <a:moveTo>
                    <a:pt x="2213483" y="16362"/>
                  </a:moveTo>
                  <a:lnTo>
                    <a:pt x="2213483" y="922676"/>
                  </a:lnTo>
                  <a:cubicBezTo>
                    <a:pt x="2213483" y="927015"/>
                    <a:pt x="2211759" y="931177"/>
                    <a:pt x="2208691" y="934246"/>
                  </a:cubicBezTo>
                  <a:cubicBezTo>
                    <a:pt x="2205622" y="937314"/>
                    <a:pt x="2201460" y="939038"/>
                    <a:pt x="2197121" y="939038"/>
                  </a:cubicBezTo>
                  <a:lnTo>
                    <a:pt x="16362" y="939038"/>
                  </a:lnTo>
                  <a:cubicBezTo>
                    <a:pt x="12023" y="939038"/>
                    <a:pt x="7861" y="937314"/>
                    <a:pt x="4792" y="934246"/>
                  </a:cubicBezTo>
                  <a:cubicBezTo>
                    <a:pt x="1724" y="931177"/>
                    <a:pt x="0" y="927015"/>
                    <a:pt x="0" y="922676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lnTo>
                    <a:pt x="2197121" y="0"/>
                  </a:lnTo>
                  <a:cubicBezTo>
                    <a:pt x="2201460" y="0"/>
                    <a:pt x="2205622" y="1724"/>
                    <a:pt x="2208691" y="4792"/>
                  </a:cubicBezTo>
                  <a:cubicBezTo>
                    <a:pt x="2211759" y="7861"/>
                    <a:pt x="2213483" y="12023"/>
                    <a:pt x="2213483" y="16362"/>
                  </a:cubicBezTo>
                  <a:close/>
                </a:path>
              </a:pathLst>
            </a:custGeom>
            <a:solidFill>
              <a:srgbClr val="9913D1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213483" cy="977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269381" y="7382282"/>
            <a:ext cx="1831939" cy="129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9"/>
              </a:lnSpc>
              <a:spcBef>
                <a:spcPct val="0"/>
              </a:spcBef>
            </a:pPr>
            <a:r>
              <a:rPr lang="en-US" sz="9999" spc="-95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21493" y="6811417"/>
            <a:ext cx="5312969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b="true" sz="3500">
                <a:solidFill>
                  <a:srgbClr val="FFFFFF"/>
                </a:solidFill>
                <a:latin typeface="Rosario Bold"/>
                <a:ea typeface="Rosario Bold"/>
                <a:cs typeface="Rosario Bold"/>
                <a:sym typeface="Rosario Bold"/>
              </a:rPr>
              <a:t>Documentation?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21493" y="7598817"/>
            <a:ext cx="4965777" cy="184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0"/>
              </a:lnSpc>
            </a:pPr>
            <a:r>
              <a:rPr lang="en-US" b="true" sz="2300">
                <a:solidFill>
                  <a:srgbClr val="FBF6F1"/>
                </a:solidFill>
                <a:latin typeface="Rosario Bold"/>
                <a:ea typeface="Rosario Bold"/>
                <a:cs typeface="Rosario Bold"/>
                <a:sym typeface="Rosario Bold"/>
              </a:rPr>
              <a:t>Twitch provides extensive official documentation, covering APIs, authentication, and data access, enabling efficient data integration and development.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162013" y="3926478"/>
            <a:ext cx="7097287" cy="2434044"/>
            <a:chOff x="0" y="0"/>
            <a:chExt cx="2213460" cy="75911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13460" cy="759115"/>
            </a:xfrm>
            <a:custGeom>
              <a:avLst/>
              <a:gdLst/>
              <a:ahLst/>
              <a:cxnLst/>
              <a:rect r="r" b="b" t="t" l="l"/>
              <a:pathLst>
                <a:path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9913D1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213460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384663" y="4605338"/>
            <a:ext cx="1831939" cy="129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9"/>
              </a:lnSpc>
              <a:spcBef>
                <a:spcPct val="0"/>
              </a:spcBef>
            </a:pPr>
            <a:r>
              <a:rPr lang="en-US" sz="9999" spc="-95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736774" y="4034473"/>
            <a:ext cx="5312969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b="true" sz="3500">
                <a:solidFill>
                  <a:srgbClr val="FFFFFF"/>
                </a:solidFill>
                <a:latin typeface="Rosario Bold"/>
                <a:ea typeface="Rosario Bold"/>
                <a:cs typeface="Rosario Bold"/>
                <a:sym typeface="Rosario Bold"/>
              </a:rPr>
              <a:t>How many requests?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736774" y="4786947"/>
            <a:ext cx="4965777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0"/>
              </a:lnSpc>
            </a:pPr>
            <a:r>
              <a:rPr lang="en-US" b="true" sz="2300">
                <a:solidFill>
                  <a:srgbClr val="FBF6F1"/>
                </a:solidFill>
                <a:latin typeface="Rosario Bold"/>
                <a:ea typeface="Rosario Bold"/>
                <a:cs typeface="Rosario Bold"/>
                <a:sym typeface="Rosario Bold"/>
              </a:rPr>
              <a:t>Each user may only send a maximum of 800 requests to Twitch server PER minute.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8100000">
            <a:off x="-1288976" y="6340690"/>
            <a:ext cx="5550010" cy="4965798"/>
          </a:xfrm>
          <a:custGeom>
            <a:avLst/>
            <a:gdLst/>
            <a:ahLst/>
            <a:cxnLst/>
            <a:rect r="r" b="b" t="t" l="l"/>
            <a:pathLst>
              <a:path h="4965798" w="5550010">
                <a:moveTo>
                  <a:pt x="5550010" y="4965798"/>
                </a:moveTo>
                <a:lnTo>
                  <a:pt x="0" y="4965798"/>
                </a:lnTo>
                <a:lnTo>
                  <a:pt x="0" y="0"/>
                </a:lnTo>
                <a:lnTo>
                  <a:pt x="5550010" y="0"/>
                </a:lnTo>
                <a:lnTo>
                  <a:pt x="5550010" y="496579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143222">
            <a:off x="-1390466" y="-1822979"/>
            <a:ext cx="5752990" cy="3645957"/>
          </a:xfrm>
          <a:custGeom>
            <a:avLst/>
            <a:gdLst/>
            <a:ahLst/>
            <a:cxnLst/>
            <a:rect r="r" b="b" t="t" l="l"/>
            <a:pathLst>
              <a:path h="3645957" w="5752990">
                <a:moveTo>
                  <a:pt x="0" y="0"/>
                </a:moveTo>
                <a:lnTo>
                  <a:pt x="5752990" y="0"/>
                </a:lnTo>
                <a:lnTo>
                  <a:pt x="5752990" y="3645958"/>
                </a:lnTo>
                <a:lnTo>
                  <a:pt x="0" y="3645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2074736" y="2649568"/>
            <a:ext cx="7333745" cy="0"/>
          </a:xfrm>
          <a:prstGeom prst="line">
            <a:avLst/>
          </a:prstGeom>
          <a:ln cap="rnd" w="76200">
            <a:solidFill>
              <a:srgbClr val="60369F"/>
            </a:solidFill>
            <a:prstDash val="lgDash"/>
            <a:headEnd type="diamond" len="lg" w="lg"/>
            <a:tailEnd type="diamond" len="lg" w="lg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428879" y="3181390"/>
            <a:ext cx="8642121" cy="5757813"/>
          </a:xfrm>
          <a:custGeom>
            <a:avLst/>
            <a:gdLst/>
            <a:ahLst/>
            <a:cxnLst/>
            <a:rect r="r" b="b" t="t" l="l"/>
            <a:pathLst>
              <a:path h="5757813" w="8642121">
                <a:moveTo>
                  <a:pt x="0" y="0"/>
                </a:moveTo>
                <a:lnTo>
                  <a:pt x="8642121" y="0"/>
                </a:lnTo>
                <a:lnTo>
                  <a:pt x="8642121" y="5757813"/>
                </a:lnTo>
                <a:lnTo>
                  <a:pt x="0" y="575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74736" y="1023961"/>
            <a:ext cx="11947548" cy="1625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99"/>
              </a:lnSpc>
              <a:spcBef>
                <a:spcPct val="0"/>
              </a:spcBef>
            </a:pPr>
            <a:r>
              <a:rPr lang="en-US" sz="9499">
                <a:solidFill>
                  <a:srgbClr val="60369F"/>
                </a:solidFill>
                <a:latin typeface="AC Steelfish"/>
                <a:ea typeface="AC Steelfish"/>
                <a:cs typeface="AC Steelfish"/>
                <a:sym typeface="AC Steelfish"/>
              </a:rPr>
              <a:t>CLOUD PLATFORM CHOICE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71000" y="3124240"/>
            <a:ext cx="7434067" cy="278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3B3730"/>
                </a:solidFill>
                <a:latin typeface="Rosario"/>
                <a:ea typeface="Rosario"/>
                <a:cs typeface="Rosario"/>
                <a:sym typeface="Rosario"/>
              </a:rPr>
              <a:t>We implemented our solution on the cloud, as it is the standard approach for handling big data in the modern era.</a:t>
            </a:r>
          </a:p>
          <a:p>
            <a:pPr algn="just">
              <a:lnSpc>
                <a:spcPts val="4480"/>
              </a:lnSpc>
            </a:pPr>
          </a:p>
          <a:p>
            <a:pPr algn="just">
              <a:lnSpc>
                <a:spcPts val="4480"/>
              </a:lnSpc>
            </a:pPr>
            <a:r>
              <a:rPr lang="en-US" b="true" sz="3200">
                <a:solidFill>
                  <a:srgbClr val="3B3730"/>
                </a:solidFill>
                <a:latin typeface="Rosario Bold"/>
                <a:ea typeface="Rosario Bold"/>
                <a:cs typeface="Rosario Bold"/>
                <a:sym typeface="Rosario Bold"/>
              </a:rPr>
              <a:t>Google Cloud</a:t>
            </a:r>
            <a:r>
              <a:rPr lang="en-US" sz="3200">
                <a:solidFill>
                  <a:srgbClr val="3B3730"/>
                </a:solidFill>
                <a:latin typeface="Rosario"/>
                <a:ea typeface="Rosario"/>
                <a:cs typeface="Rosario"/>
                <a:sym typeface="Rosario"/>
              </a:rPr>
              <a:t> gave us a lot of advantages: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71000" y="5985961"/>
            <a:ext cx="7188300" cy="269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5499"/>
              </a:lnSpc>
              <a:buAutoNum type="arabicPeriod" startAt="1"/>
            </a:pPr>
            <a:r>
              <a:rPr lang="en-US" sz="2199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</a:rPr>
              <a:t>Su</a:t>
            </a:r>
            <a:r>
              <a:rPr lang="en-US" b="true" sz="2199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</a:rPr>
              <a:t>pport for real-time data streaming</a:t>
            </a:r>
          </a:p>
          <a:p>
            <a:pPr algn="l" marL="474978" indent="-237489" lvl="1">
              <a:lnSpc>
                <a:spcPts val="5499"/>
              </a:lnSpc>
              <a:buAutoNum type="arabicPeriod" startAt="1"/>
            </a:pPr>
            <a:r>
              <a:rPr lang="en-US" b="true" sz="2199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</a:rPr>
              <a:t>Scalable data processing</a:t>
            </a:r>
          </a:p>
          <a:p>
            <a:pPr algn="l" marL="474978" indent="-237489" lvl="1">
              <a:lnSpc>
                <a:spcPts val="5499"/>
              </a:lnSpc>
              <a:buAutoNum type="arabicPeriod" startAt="1"/>
            </a:pPr>
            <a:r>
              <a:rPr lang="en-US" b="true" sz="2199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</a:rPr>
              <a:t>Fault-tolerant infrastructure</a:t>
            </a:r>
          </a:p>
          <a:p>
            <a:pPr algn="l" marL="474978" indent="-237489" lvl="1">
              <a:lnSpc>
                <a:spcPts val="5499"/>
              </a:lnSpc>
              <a:buAutoNum type="arabicPeriod" startAt="1"/>
            </a:pPr>
            <a:r>
              <a:rPr lang="en-US" b="true" sz="2199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</a:rPr>
              <a:t>Integration with analytics and ML tools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33009" y="-185773"/>
            <a:ext cx="5596580" cy="11210025"/>
            <a:chOff x="0" y="0"/>
            <a:chExt cx="1473996" cy="29524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3996" cy="2952435"/>
            </a:xfrm>
            <a:custGeom>
              <a:avLst/>
              <a:gdLst/>
              <a:ahLst/>
              <a:cxnLst/>
              <a:rect r="r" b="b" t="t" l="l"/>
              <a:pathLst>
                <a:path h="2952435" w="1473996">
                  <a:moveTo>
                    <a:pt x="0" y="0"/>
                  </a:moveTo>
                  <a:lnTo>
                    <a:pt x="1473996" y="0"/>
                  </a:lnTo>
                  <a:lnTo>
                    <a:pt x="1473996" y="2952435"/>
                  </a:lnTo>
                  <a:lnTo>
                    <a:pt x="0" y="2952435"/>
                  </a:lnTo>
                  <a:close/>
                </a:path>
              </a:pathLst>
            </a:custGeom>
            <a:solidFill>
              <a:srgbClr val="60369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73996" cy="3000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2191102" y="3286290"/>
            <a:ext cx="10724565" cy="3780438"/>
            <a:chOff x="0" y="0"/>
            <a:chExt cx="1276328" cy="4499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6328" cy="449909"/>
            </a:xfrm>
            <a:custGeom>
              <a:avLst/>
              <a:gdLst/>
              <a:ahLst/>
              <a:cxnLst/>
              <a:rect r="r" b="b" t="t" l="l"/>
              <a:pathLst>
                <a:path h="449909" w="1276328">
                  <a:moveTo>
                    <a:pt x="425673" y="19070"/>
                  </a:moveTo>
                  <a:cubicBezTo>
                    <a:pt x="490895" y="7556"/>
                    <a:pt x="565497" y="0"/>
                    <a:pt x="638508" y="0"/>
                  </a:cubicBezTo>
                  <a:cubicBezTo>
                    <a:pt x="711521" y="0"/>
                    <a:pt x="781778" y="6476"/>
                    <a:pt x="846522" y="17990"/>
                  </a:cubicBezTo>
                  <a:cubicBezTo>
                    <a:pt x="847902" y="18350"/>
                    <a:pt x="849278" y="18350"/>
                    <a:pt x="850655" y="18710"/>
                  </a:cubicBezTo>
                  <a:cubicBezTo>
                    <a:pt x="1093798" y="64765"/>
                    <a:pt x="1272884" y="186379"/>
                    <a:pt x="1276328" y="320441"/>
                  </a:cubicBezTo>
                  <a:lnTo>
                    <a:pt x="1276328" y="449909"/>
                  </a:lnTo>
                  <a:lnTo>
                    <a:pt x="0" y="449909"/>
                  </a:lnTo>
                  <a:lnTo>
                    <a:pt x="0" y="320537"/>
                  </a:lnTo>
                  <a:cubicBezTo>
                    <a:pt x="3444" y="185660"/>
                    <a:pt x="179774" y="64045"/>
                    <a:pt x="425673" y="1907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79375"/>
              <a:ext cx="1276328" cy="3705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2065453" y="2973407"/>
            <a:ext cx="8450706" cy="38100"/>
          </a:xfrm>
          <a:prstGeom prst="line">
            <a:avLst/>
          </a:prstGeom>
          <a:ln cap="rnd" w="76200">
            <a:solidFill>
              <a:srgbClr val="60369F"/>
            </a:solidFill>
            <a:prstDash val="lgDash"/>
            <a:headEnd type="diamond" len="lg" w="lg"/>
            <a:tailEnd type="diamond" len="lg" w="lg"/>
          </a:ln>
        </p:spPr>
      </p:sp>
      <p:sp>
        <p:nvSpPr>
          <p:cNvPr name="Freeform 9" id="9"/>
          <p:cNvSpPr/>
          <p:nvPr/>
        </p:nvSpPr>
        <p:spPr>
          <a:xfrm flipH="false" flipV="false" rot="5400000">
            <a:off x="-4630605" y="-515805"/>
            <a:ext cx="7315200" cy="4003409"/>
          </a:xfrm>
          <a:custGeom>
            <a:avLst/>
            <a:gdLst/>
            <a:ahLst/>
            <a:cxnLst/>
            <a:rect r="r" b="b" t="t" l="l"/>
            <a:pathLst>
              <a:path h="4003409" w="7315200">
                <a:moveTo>
                  <a:pt x="0" y="0"/>
                </a:moveTo>
                <a:lnTo>
                  <a:pt x="7315200" y="0"/>
                </a:lnTo>
                <a:lnTo>
                  <a:pt x="7315200" y="4003410"/>
                </a:lnTo>
                <a:lnTo>
                  <a:pt x="0" y="40034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-4630605" y="6630173"/>
            <a:ext cx="7315200" cy="4003409"/>
          </a:xfrm>
          <a:custGeom>
            <a:avLst/>
            <a:gdLst/>
            <a:ahLst/>
            <a:cxnLst/>
            <a:rect r="r" b="b" t="t" l="l"/>
            <a:pathLst>
              <a:path h="4003409" w="7315200">
                <a:moveTo>
                  <a:pt x="0" y="0"/>
                </a:moveTo>
                <a:lnTo>
                  <a:pt x="7315200" y="0"/>
                </a:lnTo>
                <a:lnTo>
                  <a:pt x="7315200" y="4003410"/>
                </a:lnTo>
                <a:lnTo>
                  <a:pt x="0" y="40034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65281" y="3887429"/>
            <a:ext cx="14542374" cy="4744449"/>
          </a:xfrm>
          <a:custGeom>
            <a:avLst/>
            <a:gdLst/>
            <a:ahLst/>
            <a:cxnLst/>
            <a:rect r="r" b="b" t="t" l="l"/>
            <a:pathLst>
              <a:path h="4744449" w="14542374">
                <a:moveTo>
                  <a:pt x="0" y="0"/>
                </a:moveTo>
                <a:lnTo>
                  <a:pt x="14542374" y="0"/>
                </a:lnTo>
                <a:lnTo>
                  <a:pt x="14542374" y="4744449"/>
                </a:lnTo>
                <a:lnTo>
                  <a:pt x="0" y="47444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65453" y="1347800"/>
            <a:ext cx="11947548" cy="1625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99"/>
              </a:lnSpc>
              <a:spcBef>
                <a:spcPct val="0"/>
              </a:spcBef>
            </a:pPr>
            <a:r>
              <a:rPr lang="en-US" sz="9499">
                <a:solidFill>
                  <a:srgbClr val="60369F"/>
                </a:solidFill>
                <a:latin typeface="AC Steelfish"/>
                <a:ea typeface="AC Steelfish"/>
                <a:cs typeface="AC Steelfish"/>
                <a:sym typeface="AC Steelfish"/>
              </a:rPr>
              <a:t>OUR BIG DATA 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51178" y="7608258"/>
            <a:ext cx="6086358" cy="199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>
                <a:solidFill>
                  <a:srgbClr val="60369F"/>
                </a:solidFill>
                <a:latin typeface="Bernoru"/>
                <a:ea typeface="Bernoru"/>
                <a:cs typeface="Bernoru"/>
                <a:sym typeface="Bernoru"/>
              </a:rPr>
              <a:t>Notes: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60369F"/>
                </a:solidFill>
                <a:latin typeface="Bernoru"/>
                <a:ea typeface="Bernoru"/>
                <a:cs typeface="Bernoru"/>
                <a:sym typeface="Bernoru"/>
              </a:rPr>
              <a:t>In the streaming part, Spark works on top of Cloud Dataproc.</a:t>
            </a:r>
          </a:p>
          <a:p>
            <a:pPr algn="just">
              <a:lnSpc>
                <a:spcPts val="2659"/>
              </a:lnSpc>
            </a:pPr>
          </a:p>
          <a:p>
            <a:pPr algn="just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60369F"/>
                </a:solidFill>
                <a:latin typeface="Bernoru"/>
                <a:ea typeface="Bernoru"/>
                <a:cs typeface="Bernoru"/>
                <a:sym typeface="Bernoru"/>
              </a:rPr>
              <a:t>In historical part, Cloud Dataproc is serverless.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33009" y="-185773"/>
            <a:ext cx="5596580" cy="11210025"/>
            <a:chOff x="0" y="0"/>
            <a:chExt cx="1473996" cy="29524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3996" cy="2952435"/>
            </a:xfrm>
            <a:custGeom>
              <a:avLst/>
              <a:gdLst/>
              <a:ahLst/>
              <a:cxnLst/>
              <a:rect r="r" b="b" t="t" l="l"/>
              <a:pathLst>
                <a:path h="2952435" w="1473996">
                  <a:moveTo>
                    <a:pt x="0" y="0"/>
                  </a:moveTo>
                  <a:lnTo>
                    <a:pt x="1473996" y="0"/>
                  </a:lnTo>
                  <a:lnTo>
                    <a:pt x="1473996" y="2952435"/>
                  </a:lnTo>
                  <a:lnTo>
                    <a:pt x="0" y="2952435"/>
                  </a:lnTo>
                  <a:close/>
                </a:path>
              </a:pathLst>
            </a:custGeom>
            <a:solidFill>
              <a:srgbClr val="60369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73996" cy="3000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2191102" y="3286290"/>
            <a:ext cx="10724565" cy="3780438"/>
            <a:chOff x="0" y="0"/>
            <a:chExt cx="1276328" cy="4499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6328" cy="449909"/>
            </a:xfrm>
            <a:custGeom>
              <a:avLst/>
              <a:gdLst/>
              <a:ahLst/>
              <a:cxnLst/>
              <a:rect r="r" b="b" t="t" l="l"/>
              <a:pathLst>
                <a:path h="449909" w="1276328">
                  <a:moveTo>
                    <a:pt x="425673" y="19070"/>
                  </a:moveTo>
                  <a:cubicBezTo>
                    <a:pt x="490895" y="7556"/>
                    <a:pt x="565497" y="0"/>
                    <a:pt x="638508" y="0"/>
                  </a:cubicBezTo>
                  <a:cubicBezTo>
                    <a:pt x="711521" y="0"/>
                    <a:pt x="781778" y="6476"/>
                    <a:pt x="846522" y="17990"/>
                  </a:cubicBezTo>
                  <a:cubicBezTo>
                    <a:pt x="847902" y="18350"/>
                    <a:pt x="849278" y="18350"/>
                    <a:pt x="850655" y="18710"/>
                  </a:cubicBezTo>
                  <a:cubicBezTo>
                    <a:pt x="1093798" y="64765"/>
                    <a:pt x="1272884" y="186379"/>
                    <a:pt x="1276328" y="320441"/>
                  </a:cubicBezTo>
                  <a:lnTo>
                    <a:pt x="1276328" y="449909"/>
                  </a:lnTo>
                  <a:lnTo>
                    <a:pt x="0" y="449909"/>
                  </a:lnTo>
                  <a:lnTo>
                    <a:pt x="0" y="320537"/>
                  </a:lnTo>
                  <a:cubicBezTo>
                    <a:pt x="3444" y="185660"/>
                    <a:pt x="179774" y="64045"/>
                    <a:pt x="425673" y="1907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79375"/>
              <a:ext cx="1276328" cy="3705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2065453" y="3011507"/>
            <a:ext cx="10661932" cy="0"/>
          </a:xfrm>
          <a:prstGeom prst="line">
            <a:avLst/>
          </a:prstGeom>
          <a:ln cap="rnd" w="76200">
            <a:solidFill>
              <a:srgbClr val="60369F"/>
            </a:solidFill>
            <a:prstDash val="lgDash"/>
            <a:headEnd type="diamond" len="lg" w="lg"/>
            <a:tailEnd type="diamond" len="lg" w="lg"/>
          </a:ln>
        </p:spPr>
      </p:sp>
      <p:sp>
        <p:nvSpPr>
          <p:cNvPr name="Freeform 9" id="9"/>
          <p:cNvSpPr/>
          <p:nvPr/>
        </p:nvSpPr>
        <p:spPr>
          <a:xfrm flipH="false" flipV="false" rot="5400000">
            <a:off x="-4630605" y="-515805"/>
            <a:ext cx="7315200" cy="4003409"/>
          </a:xfrm>
          <a:custGeom>
            <a:avLst/>
            <a:gdLst/>
            <a:ahLst/>
            <a:cxnLst/>
            <a:rect r="r" b="b" t="t" l="l"/>
            <a:pathLst>
              <a:path h="4003409" w="7315200">
                <a:moveTo>
                  <a:pt x="0" y="0"/>
                </a:moveTo>
                <a:lnTo>
                  <a:pt x="7315200" y="0"/>
                </a:lnTo>
                <a:lnTo>
                  <a:pt x="7315200" y="4003410"/>
                </a:lnTo>
                <a:lnTo>
                  <a:pt x="0" y="40034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-4630605" y="6630173"/>
            <a:ext cx="7315200" cy="4003409"/>
          </a:xfrm>
          <a:custGeom>
            <a:avLst/>
            <a:gdLst/>
            <a:ahLst/>
            <a:cxnLst/>
            <a:rect r="r" b="b" t="t" l="l"/>
            <a:pathLst>
              <a:path h="4003409" w="7315200">
                <a:moveTo>
                  <a:pt x="0" y="0"/>
                </a:moveTo>
                <a:lnTo>
                  <a:pt x="7315200" y="0"/>
                </a:lnTo>
                <a:lnTo>
                  <a:pt x="7315200" y="4003410"/>
                </a:lnTo>
                <a:lnTo>
                  <a:pt x="0" y="40034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779326" y="3737411"/>
            <a:ext cx="12729348" cy="4152950"/>
          </a:xfrm>
          <a:custGeom>
            <a:avLst/>
            <a:gdLst/>
            <a:ahLst/>
            <a:cxnLst/>
            <a:rect r="r" b="b" t="t" l="l"/>
            <a:pathLst>
              <a:path h="4152950" w="12729348">
                <a:moveTo>
                  <a:pt x="0" y="0"/>
                </a:moveTo>
                <a:lnTo>
                  <a:pt x="12729348" y="0"/>
                </a:lnTo>
                <a:lnTo>
                  <a:pt x="12729348" y="4152950"/>
                </a:lnTo>
                <a:lnTo>
                  <a:pt x="0" y="4152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65453" y="1347800"/>
            <a:ext cx="11947548" cy="1625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99"/>
              </a:lnSpc>
              <a:spcBef>
                <a:spcPct val="0"/>
              </a:spcBef>
            </a:pPr>
            <a:r>
              <a:rPr lang="en-US" sz="9499">
                <a:solidFill>
                  <a:srgbClr val="60369F"/>
                </a:solidFill>
                <a:latin typeface="AC Steelfish"/>
                <a:ea typeface="AC Steelfish"/>
                <a:cs typeface="AC Steelfish"/>
                <a:sym typeface="AC Steelfish"/>
              </a:rPr>
              <a:t>OUR BIG DATA ARCHITECTURE (NO.2)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22390" y="8085669"/>
            <a:ext cx="13443221" cy="166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>
                <a:solidFill>
                  <a:srgbClr val="60369F"/>
                </a:solidFill>
                <a:latin typeface="Bernoru"/>
                <a:ea typeface="Bernoru"/>
                <a:cs typeface="Bernoru"/>
                <a:sym typeface="Bernoru"/>
              </a:rPr>
              <a:t>Notes: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60369F"/>
                </a:solidFill>
                <a:latin typeface="Bernoru"/>
                <a:ea typeface="Bernoru"/>
                <a:cs typeface="Bernoru"/>
                <a:sym typeface="Bernoru"/>
              </a:rPr>
              <a:t>In the streaming part, we now utilize FULL cloud services, making the computation VERY FAST, compaired with before architecture.</a:t>
            </a:r>
          </a:p>
          <a:p>
            <a:pPr algn="just">
              <a:lnSpc>
                <a:spcPts val="2659"/>
              </a:lnSpc>
            </a:pPr>
          </a:p>
          <a:p>
            <a:pPr algn="just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60369F"/>
                </a:solidFill>
                <a:latin typeface="Bernoru"/>
                <a:ea typeface="Bernoru"/>
                <a:cs typeface="Bernoru"/>
                <a:sym typeface="Bernoru"/>
              </a:rPr>
              <a:t>In historical part, is the same as before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33009" y="-185773"/>
            <a:ext cx="5596580" cy="11210025"/>
            <a:chOff x="0" y="0"/>
            <a:chExt cx="1473996" cy="29524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3996" cy="2952435"/>
            </a:xfrm>
            <a:custGeom>
              <a:avLst/>
              <a:gdLst/>
              <a:ahLst/>
              <a:cxnLst/>
              <a:rect r="r" b="b" t="t" l="l"/>
              <a:pathLst>
                <a:path h="2952435" w="1473996">
                  <a:moveTo>
                    <a:pt x="0" y="0"/>
                  </a:moveTo>
                  <a:lnTo>
                    <a:pt x="1473996" y="0"/>
                  </a:lnTo>
                  <a:lnTo>
                    <a:pt x="1473996" y="2952435"/>
                  </a:lnTo>
                  <a:lnTo>
                    <a:pt x="0" y="2952435"/>
                  </a:lnTo>
                  <a:close/>
                </a:path>
              </a:pathLst>
            </a:custGeom>
            <a:solidFill>
              <a:srgbClr val="60369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73996" cy="3000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2191102" y="3286290"/>
            <a:ext cx="10724565" cy="3780438"/>
            <a:chOff x="0" y="0"/>
            <a:chExt cx="1276328" cy="4499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6328" cy="449909"/>
            </a:xfrm>
            <a:custGeom>
              <a:avLst/>
              <a:gdLst/>
              <a:ahLst/>
              <a:cxnLst/>
              <a:rect r="r" b="b" t="t" l="l"/>
              <a:pathLst>
                <a:path h="449909" w="1276328">
                  <a:moveTo>
                    <a:pt x="425673" y="19070"/>
                  </a:moveTo>
                  <a:cubicBezTo>
                    <a:pt x="490895" y="7556"/>
                    <a:pt x="565497" y="0"/>
                    <a:pt x="638508" y="0"/>
                  </a:cubicBezTo>
                  <a:cubicBezTo>
                    <a:pt x="711521" y="0"/>
                    <a:pt x="781778" y="6476"/>
                    <a:pt x="846522" y="17990"/>
                  </a:cubicBezTo>
                  <a:cubicBezTo>
                    <a:pt x="847902" y="18350"/>
                    <a:pt x="849278" y="18350"/>
                    <a:pt x="850655" y="18710"/>
                  </a:cubicBezTo>
                  <a:cubicBezTo>
                    <a:pt x="1093798" y="64765"/>
                    <a:pt x="1272884" y="186379"/>
                    <a:pt x="1276328" y="320441"/>
                  </a:cubicBezTo>
                  <a:lnTo>
                    <a:pt x="1276328" y="449909"/>
                  </a:lnTo>
                  <a:lnTo>
                    <a:pt x="0" y="449909"/>
                  </a:lnTo>
                  <a:lnTo>
                    <a:pt x="0" y="320537"/>
                  </a:lnTo>
                  <a:cubicBezTo>
                    <a:pt x="3444" y="185660"/>
                    <a:pt x="179774" y="64045"/>
                    <a:pt x="425673" y="1907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79375"/>
              <a:ext cx="1276328" cy="3705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415526" y="3150323"/>
            <a:ext cx="5011391" cy="412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0"/>
              </a:lnSpc>
              <a:spcBef>
                <a:spcPct val="0"/>
              </a:spcBef>
            </a:pPr>
            <a:r>
              <a:rPr lang="en-US" sz="24000">
                <a:solidFill>
                  <a:srgbClr val="60369F"/>
                </a:solidFill>
                <a:latin typeface="AC Steelfish"/>
                <a:ea typeface="AC Steelfish"/>
                <a:cs typeface="AC Steelfish"/>
                <a:sym typeface="AC Steelfish"/>
              </a:rPr>
              <a:t>CLOUD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639549" y="6591417"/>
            <a:ext cx="6563346" cy="683231"/>
          </a:xfrm>
          <a:custGeom>
            <a:avLst/>
            <a:gdLst/>
            <a:ahLst/>
            <a:cxnLst/>
            <a:rect r="r" b="b" t="t" l="l"/>
            <a:pathLst>
              <a:path h="683231" w="6563346">
                <a:moveTo>
                  <a:pt x="0" y="0"/>
                </a:moveTo>
                <a:lnTo>
                  <a:pt x="6563345" y="0"/>
                </a:lnTo>
                <a:lnTo>
                  <a:pt x="6563345" y="683231"/>
                </a:lnTo>
                <a:lnTo>
                  <a:pt x="0" y="683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555444" y="-1623404"/>
            <a:ext cx="12907465" cy="13195364"/>
          </a:xfrm>
          <a:custGeom>
            <a:avLst/>
            <a:gdLst/>
            <a:ahLst/>
            <a:cxnLst/>
            <a:rect r="r" b="b" t="t" l="l"/>
            <a:pathLst>
              <a:path h="13195364" w="12907465">
                <a:moveTo>
                  <a:pt x="0" y="0"/>
                </a:moveTo>
                <a:lnTo>
                  <a:pt x="12907466" y="0"/>
                </a:lnTo>
                <a:lnTo>
                  <a:pt x="12907466" y="13195364"/>
                </a:lnTo>
                <a:lnTo>
                  <a:pt x="0" y="131953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-4630605" y="-515805"/>
            <a:ext cx="7315200" cy="4003409"/>
          </a:xfrm>
          <a:custGeom>
            <a:avLst/>
            <a:gdLst/>
            <a:ahLst/>
            <a:cxnLst/>
            <a:rect r="r" b="b" t="t" l="l"/>
            <a:pathLst>
              <a:path h="4003409" w="7315200">
                <a:moveTo>
                  <a:pt x="0" y="0"/>
                </a:moveTo>
                <a:lnTo>
                  <a:pt x="7315200" y="0"/>
                </a:lnTo>
                <a:lnTo>
                  <a:pt x="7315200" y="4003410"/>
                </a:lnTo>
                <a:lnTo>
                  <a:pt x="0" y="4003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-4630605" y="6630173"/>
            <a:ext cx="7315200" cy="4003409"/>
          </a:xfrm>
          <a:custGeom>
            <a:avLst/>
            <a:gdLst/>
            <a:ahLst/>
            <a:cxnLst/>
            <a:rect r="r" b="b" t="t" l="l"/>
            <a:pathLst>
              <a:path h="4003409" w="7315200">
                <a:moveTo>
                  <a:pt x="0" y="0"/>
                </a:moveTo>
                <a:lnTo>
                  <a:pt x="7315200" y="0"/>
                </a:lnTo>
                <a:lnTo>
                  <a:pt x="7315200" y="4003410"/>
                </a:lnTo>
                <a:lnTo>
                  <a:pt x="0" y="4003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71372" y="1028700"/>
            <a:ext cx="9745256" cy="7308942"/>
          </a:xfrm>
          <a:custGeom>
            <a:avLst/>
            <a:gdLst/>
            <a:ahLst/>
            <a:cxnLst/>
            <a:rect r="r" b="b" t="t" l="l"/>
            <a:pathLst>
              <a:path h="7308942" w="9745256">
                <a:moveTo>
                  <a:pt x="0" y="0"/>
                </a:moveTo>
                <a:lnTo>
                  <a:pt x="9745256" y="0"/>
                </a:lnTo>
                <a:lnTo>
                  <a:pt x="9745256" y="7308942"/>
                </a:lnTo>
                <a:lnTo>
                  <a:pt x="0" y="7308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914023" y="7816070"/>
            <a:ext cx="5752990" cy="3645957"/>
          </a:xfrm>
          <a:custGeom>
            <a:avLst/>
            <a:gdLst/>
            <a:ahLst/>
            <a:cxnLst/>
            <a:rect r="r" b="b" t="t" l="l"/>
            <a:pathLst>
              <a:path h="3645957" w="5752990">
                <a:moveTo>
                  <a:pt x="5752990" y="0"/>
                </a:moveTo>
                <a:lnTo>
                  <a:pt x="0" y="0"/>
                </a:lnTo>
                <a:lnTo>
                  <a:pt x="0" y="3645957"/>
                </a:lnTo>
                <a:lnTo>
                  <a:pt x="5752990" y="3645957"/>
                </a:lnTo>
                <a:lnTo>
                  <a:pt x="575299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143222">
            <a:off x="-1390466" y="-1822979"/>
            <a:ext cx="5752990" cy="3645957"/>
          </a:xfrm>
          <a:custGeom>
            <a:avLst/>
            <a:gdLst/>
            <a:ahLst/>
            <a:cxnLst/>
            <a:rect r="r" b="b" t="t" l="l"/>
            <a:pathLst>
              <a:path h="3645957" w="5752990">
                <a:moveTo>
                  <a:pt x="0" y="0"/>
                </a:moveTo>
                <a:lnTo>
                  <a:pt x="5752990" y="0"/>
                </a:lnTo>
                <a:lnTo>
                  <a:pt x="5752990" y="3645958"/>
                </a:lnTo>
                <a:lnTo>
                  <a:pt x="0" y="3645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33056"/>
            <a:ext cx="7097287" cy="2434044"/>
            <a:chOff x="0" y="0"/>
            <a:chExt cx="2213460" cy="7591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3460" cy="759115"/>
            </a:xfrm>
            <a:custGeom>
              <a:avLst/>
              <a:gdLst/>
              <a:ahLst/>
              <a:cxnLst/>
              <a:rect r="r" b="b" t="t" l="l"/>
              <a:pathLst>
                <a:path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9913D1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13460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51350" y="4211916"/>
            <a:ext cx="1831939" cy="129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9"/>
              </a:lnSpc>
              <a:spcBef>
                <a:spcPct val="0"/>
              </a:spcBef>
            </a:pPr>
            <a:r>
              <a:rPr lang="en-US" sz="9999" spc="-959" strike="noStrike" u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03461" y="3641051"/>
            <a:ext cx="5312969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b="true" sz="3500">
                <a:solidFill>
                  <a:srgbClr val="FFFFFF"/>
                </a:solidFill>
                <a:latin typeface="Rosario Bold"/>
                <a:ea typeface="Rosario Bold"/>
                <a:cs typeface="Rosario Bold"/>
                <a:sym typeface="Rosario Bold"/>
              </a:rPr>
              <a:t>API limits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03461" y="4483515"/>
            <a:ext cx="4965777" cy="73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0"/>
              </a:lnSpc>
            </a:pPr>
            <a:r>
              <a:rPr lang="en-US" b="true" sz="2300">
                <a:solidFill>
                  <a:srgbClr val="FBF6F1"/>
                </a:solidFill>
                <a:latin typeface="Rosario Bold"/>
                <a:ea typeface="Rosario Bold"/>
                <a:cs typeface="Rosario Bold"/>
                <a:sym typeface="Rosario Bold"/>
              </a:rPr>
              <a:t>Twitch only allowed us to have 800 requests per minute. No more, no less.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595356" y="6824256"/>
            <a:ext cx="7097287" cy="2434044"/>
            <a:chOff x="0" y="0"/>
            <a:chExt cx="2213460" cy="7591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3460" cy="759115"/>
            </a:xfrm>
            <a:custGeom>
              <a:avLst/>
              <a:gdLst/>
              <a:ahLst/>
              <a:cxnLst/>
              <a:rect r="r" b="b" t="t" l="l"/>
              <a:pathLst>
                <a:path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9913D1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13460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818006" y="7503116"/>
            <a:ext cx="1831939" cy="129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9"/>
              </a:lnSpc>
              <a:spcBef>
                <a:spcPct val="0"/>
              </a:spcBef>
            </a:pPr>
            <a:r>
              <a:rPr lang="en-US" sz="9999" spc="-95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70118" y="6952253"/>
            <a:ext cx="4965777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b="true" sz="3500">
                <a:solidFill>
                  <a:srgbClr val="FFFFFF"/>
                </a:solidFill>
                <a:latin typeface="Rosario Bold"/>
                <a:ea typeface="Rosario Bold"/>
                <a:cs typeface="Rosario Bold"/>
                <a:sym typeface="Rosario Bold"/>
              </a:rPr>
              <a:t>Learning new tools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70118" y="7816806"/>
            <a:ext cx="4965777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0"/>
              </a:lnSpc>
            </a:pPr>
            <a:r>
              <a:rPr lang="en-US" b="true" sz="2300">
                <a:solidFill>
                  <a:srgbClr val="FBF6F1"/>
                </a:solidFill>
                <a:latin typeface="Rosario Bold"/>
                <a:ea typeface="Rosario Bold"/>
                <a:cs typeface="Rosario Bold"/>
                <a:sym typeface="Rosario Bold"/>
              </a:rPr>
              <a:t>Learning cloud platforms from scratch, including understanding and integrating multiple services.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162013" y="3533056"/>
            <a:ext cx="7097287" cy="2434044"/>
            <a:chOff x="0" y="0"/>
            <a:chExt cx="2213460" cy="7591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3460" cy="759115"/>
            </a:xfrm>
            <a:custGeom>
              <a:avLst/>
              <a:gdLst/>
              <a:ahLst/>
              <a:cxnLst/>
              <a:rect r="r" b="b" t="t" l="l"/>
              <a:pathLst>
                <a:path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9913D1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13460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384663" y="4211916"/>
            <a:ext cx="1831939" cy="129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9"/>
              </a:lnSpc>
              <a:spcBef>
                <a:spcPct val="0"/>
              </a:spcBef>
            </a:pPr>
            <a:r>
              <a:rPr lang="en-US" sz="9999" spc="-95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36774" y="3641051"/>
            <a:ext cx="4965777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b="true" sz="3500">
                <a:solidFill>
                  <a:srgbClr val="FFFFFF"/>
                </a:solidFill>
                <a:latin typeface="Rosario Bold"/>
                <a:ea typeface="Rosario Bold"/>
                <a:cs typeface="Rosario Bold"/>
                <a:sym typeface="Rosario Bold"/>
              </a:rPr>
              <a:t>Financial costs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36774" y="4483515"/>
            <a:ext cx="4965777" cy="73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0"/>
              </a:lnSpc>
            </a:pPr>
            <a:r>
              <a:rPr lang="en-US" b="true" sz="2300">
                <a:solidFill>
                  <a:srgbClr val="FBF6F1"/>
                </a:solidFill>
                <a:latin typeface="Rosario Bold"/>
                <a:ea typeface="Rosario Bold"/>
                <a:cs typeface="Rosario Bold"/>
                <a:sym typeface="Rosario Bold"/>
              </a:rPr>
              <a:t>Implementing the project costs a well over $ 100. 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028872" y="2513716"/>
            <a:ext cx="6784279" cy="0"/>
          </a:xfrm>
          <a:prstGeom prst="line">
            <a:avLst/>
          </a:prstGeom>
          <a:ln cap="rnd" w="76200">
            <a:solidFill>
              <a:srgbClr val="60369F"/>
            </a:solidFill>
            <a:prstDash val="lgDash"/>
            <a:headEnd type="diamond" len="lg" w="lg"/>
            <a:tailEnd type="diamond" len="lg" w="lg"/>
          </a:ln>
        </p:spPr>
      </p:sp>
      <p:sp>
        <p:nvSpPr>
          <p:cNvPr name="TextBox 21" id="21"/>
          <p:cNvSpPr txBox="true"/>
          <p:nvPr/>
        </p:nvSpPr>
        <p:spPr>
          <a:xfrm rot="0">
            <a:off x="1028872" y="850009"/>
            <a:ext cx="11947548" cy="1625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99"/>
              </a:lnSpc>
              <a:spcBef>
                <a:spcPct val="0"/>
              </a:spcBef>
            </a:pPr>
            <a:r>
              <a:rPr lang="en-US" sz="9499">
                <a:solidFill>
                  <a:srgbClr val="60369F"/>
                </a:solidFill>
                <a:latin typeface="AC Steelfish"/>
                <a:ea typeface="AC Steelfish"/>
                <a:cs typeface="AC Steelfish"/>
                <a:sym typeface="AC Steelfish"/>
              </a:rPr>
              <a:t>CHALLENGES WE FACED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6143222">
            <a:off x="-1390466" y="-1822979"/>
            <a:ext cx="5752990" cy="3645957"/>
          </a:xfrm>
          <a:custGeom>
            <a:avLst/>
            <a:gdLst/>
            <a:ahLst/>
            <a:cxnLst/>
            <a:rect r="r" b="b" t="t" l="l"/>
            <a:pathLst>
              <a:path h="3645957" w="5752990">
                <a:moveTo>
                  <a:pt x="0" y="0"/>
                </a:moveTo>
                <a:lnTo>
                  <a:pt x="5752990" y="0"/>
                </a:lnTo>
                <a:lnTo>
                  <a:pt x="5752990" y="3645958"/>
                </a:lnTo>
                <a:lnTo>
                  <a:pt x="0" y="3645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false" rot="0">
            <a:off x="14914023" y="7816070"/>
            <a:ext cx="5752990" cy="3645957"/>
          </a:xfrm>
          <a:custGeom>
            <a:avLst/>
            <a:gdLst/>
            <a:ahLst/>
            <a:cxnLst/>
            <a:rect r="r" b="b" t="t" l="l"/>
            <a:pathLst>
              <a:path h="3645957" w="5752990">
                <a:moveTo>
                  <a:pt x="5752990" y="0"/>
                </a:moveTo>
                <a:lnTo>
                  <a:pt x="0" y="0"/>
                </a:lnTo>
                <a:lnTo>
                  <a:pt x="0" y="3645957"/>
                </a:lnTo>
                <a:lnTo>
                  <a:pt x="5752990" y="3645957"/>
                </a:lnTo>
                <a:lnTo>
                  <a:pt x="575299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2886254" y="-597908"/>
            <a:ext cx="5596580" cy="11210025"/>
            <a:chOff x="0" y="0"/>
            <a:chExt cx="1473996" cy="29524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3996" cy="2952435"/>
            </a:xfrm>
            <a:custGeom>
              <a:avLst/>
              <a:gdLst/>
              <a:ahLst/>
              <a:cxnLst/>
              <a:rect r="r" b="b" t="t" l="l"/>
              <a:pathLst>
                <a:path h="2952435" w="1473996">
                  <a:moveTo>
                    <a:pt x="0" y="0"/>
                  </a:moveTo>
                  <a:lnTo>
                    <a:pt x="1473996" y="0"/>
                  </a:lnTo>
                  <a:lnTo>
                    <a:pt x="1473996" y="2952435"/>
                  </a:lnTo>
                  <a:lnTo>
                    <a:pt x="0" y="2952435"/>
                  </a:lnTo>
                  <a:close/>
                </a:path>
              </a:pathLst>
            </a:custGeom>
            <a:solidFill>
              <a:srgbClr val="60369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73996" cy="3000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9216363" y="3359616"/>
            <a:ext cx="10724565" cy="3780438"/>
            <a:chOff x="0" y="0"/>
            <a:chExt cx="1276328" cy="4499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6328" cy="449909"/>
            </a:xfrm>
            <a:custGeom>
              <a:avLst/>
              <a:gdLst/>
              <a:ahLst/>
              <a:cxnLst/>
              <a:rect r="r" b="b" t="t" l="l"/>
              <a:pathLst>
                <a:path h="449909" w="1276328">
                  <a:moveTo>
                    <a:pt x="425673" y="19070"/>
                  </a:moveTo>
                  <a:cubicBezTo>
                    <a:pt x="490895" y="7556"/>
                    <a:pt x="565497" y="0"/>
                    <a:pt x="638508" y="0"/>
                  </a:cubicBezTo>
                  <a:cubicBezTo>
                    <a:pt x="711521" y="0"/>
                    <a:pt x="781778" y="6476"/>
                    <a:pt x="846522" y="17990"/>
                  </a:cubicBezTo>
                  <a:cubicBezTo>
                    <a:pt x="847902" y="18350"/>
                    <a:pt x="849278" y="18350"/>
                    <a:pt x="850655" y="18710"/>
                  </a:cubicBezTo>
                  <a:cubicBezTo>
                    <a:pt x="1093798" y="64765"/>
                    <a:pt x="1272884" y="186379"/>
                    <a:pt x="1276328" y="320441"/>
                  </a:cubicBezTo>
                  <a:lnTo>
                    <a:pt x="1276328" y="449909"/>
                  </a:lnTo>
                  <a:lnTo>
                    <a:pt x="0" y="449909"/>
                  </a:lnTo>
                  <a:lnTo>
                    <a:pt x="0" y="320537"/>
                  </a:lnTo>
                  <a:cubicBezTo>
                    <a:pt x="3444" y="185660"/>
                    <a:pt x="179774" y="64045"/>
                    <a:pt x="425673" y="1907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79375"/>
              <a:ext cx="1276328" cy="3705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23364" y="2896177"/>
            <a:ext cx="14441272" cy="548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74"/>
              </a:lnSpc>
              <a:spcBef>
                <a:spcPct val="0"/>
              </a:spcBef>
            </a:pPr>
            <a:r>
              <a:rPr lang="en-US" sz="31910">
                <a:solidFill>
                  <a:srgbClr val="60369F"/>
                </a:solidFill>
                <a:latin typeface="AC Steelfish"/>
                <a:ea typeface="AC Steelfish"/>
                <a:cs typeface="AC Steelfish"/>
                <a:sym typeface="AC Steelfish"/>
              </a:rPr>
              <a:t>THANK YOU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688427" y="2382180"/>
            <a:ext cx="1618546" cy="1618546"/>
          </a:xfrm>
          <a:custGeom>
            <a:avLst/>
            <a:gdLst/>
            <a:ahLst/>
            <a:cxnLst/>
            <a:rect r="r" b="b" t="t" l="l"/>
            <a:pathLst>
              <a:path h="1618546" w="1618546">
                <a:moveTo>
                  <a:pt x="0" y="0"/>
                </a:moveTo>
                <a:lnTo>
                  <a:pt x="1618546" y="0"/>
                </a:lnTo>
                <a:lnTo>
                  <a:pt x="1618546" y="1618545"/>
                </a:lnTo>
                <a:lnTo>
                  <a:pt x="0" y="1618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14091" y="6630624"/>
            <a:ext cx="1618546" cy="1618546"/>
          </a:xfrm>
          <a:custGeom>
            <a:avLst/>
            <a:gdLst/>
            <a:ahLst/>
            <a:cxnLst/>
            <a:rect r="r" b="b" t="t" l="l"/>
            <a:pathLst>
              <a:path h="1618546" w="1618546">
                <a:moveTo>
                  <a:pt x="0" y="0"/>
                </a:moveTo>
                <a:lnTo>
                  <a:pt x="1618546" y="0"/>
                </a:lnTo>
                <a:lnTo>
                  <a:pt x="1618546" y="1618545"/>
                </a:lnTo>
                <a:lnTo>
                  <a:pt x="0" y="1618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5334507" y="-431194"/>
            <a:ext cx="7315200" cy="4003409"/>
          </a:xfrm>
          <a:custGeom>
            <a:avLst/>
            <a:gdLst/>
            <a:ahLst/>
            <a:cxnLst/>
            <a:rect r="r" b="b" t="t" l="l"/>
            <a:pathLst>
              <a:path h="4003409" w="7315200">
                <a:moveTo>
                  <a:pt x="0" y="0"/>
                </a:moveTo>
                <a:lnTo>
                  <a:pt x="7315200" y="0"/>
                </a:lnTo>
                <a:lnTo>
                  <a:pt x="7315200" y="4003410"/>
                </a:lnTo>
                <a:lnTo>
                  <a:pt x="0" y="4003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15334507" y="6714784"/>
            <a:ext cx="7315200" cy="4003409"/>
          </a:xfrm>
          <a:custGeom>
            <a:avLst/>
            <a:gdLst/>
            <a:ahLst/>
            <a:cxnLst/>
            <a:rect r="r" b="b" t="t" l="l"/>
            <a:pathLst>
              <a:path h="4003409" w="7315200">
                <a:moveTo>
                  <a:pt x="0" y="0"/>
                </a:moveTo>
                <a:lnTo>
                  <a:pt x="7315200" y="0"/>
                </a:lnTo>
                <a:lnTo>
                  <a:pt x="7315200" y="4003410"/>
                </a:lnTo>
                <a:lnTo>
                  <a:pt x="0" y="4003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DAHHxsZsNOc</dc:identifier>
  <dcterms:modified xsi:type="dcterms:W3CDTF">2011-08-01T06:04:30Z</dcterms:modified>
  <cp:revision>1</cp:revision>
  <dc:title>Big data project PPT</dc:title>
</cp:coreProperties>
</file>